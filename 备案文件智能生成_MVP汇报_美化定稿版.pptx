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960120"/>
            <a:ext cx="3611880" cy="3886200"/>
          </a:xfrm>
          <a:prstGeom prst="roundRect">
            <a:avLst>
              <a:gd name="adj" fmla="val 5063"/>
            </a:avLst>
          </a:prstGeom>
          <a:solidFill>
            <a:srgbClr val="F2F7FF"/>
          </a:solidFill>
          <a:ln w="12700">
            <a:solidFill>
              <a:srgbClr val="F2F7FF">
                <a:alpha val="0"/>
              </a:srgbClr>
            </a:solidFill>
            <a:prstDash val="solid"/>
          </a:ln>
        </p:spPr>
      </p:sp>
      <p:pic>
        <p:nvPicPr>
          <p:cNvPr id="4" name="Image 0" descr="/mnt/data/user-bG5Nw9toPjj3S70o9uquqHr5/6d6c4bf9f6bf49589fa6b4a718d9be14/mnt/data/404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72768"/>
            <a:ext cx="2971800" cy="1792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417320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备案文件智能生成 MVP 汇报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731520" y="2121408"/>
            <a:ext cx="685800" cy="0"/>
          </a:xfrm>
          <a:prstGeom prst="line">
            <a:avLst/>
          </a:prstGeom>
          <a:noFill/>
          <a:ln w="40640">
            <a:solidFill>
              <a:srgbClr val="1E5B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35915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需求文档讲解与 MVP 选择逻辑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13232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基于企业需求对接的首版闭环方案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5760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聚焦：需求梳理｜业务痛点｜MVP范围｜实现依据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13232" y="6053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汇报主线：从企业需求到 MVP 收敛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本次汇报不只是罗列功能，而是说明我们如何从企业需求中收敛出首版 MVP。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25880" y="2743200"/>
            <a:ext cx="9509760" cy="0"/>
          </a:xfrm>
          <a:prstGeom prst="line">
            <a:avLst/>
          </a:prstGeom>
          <a:noFill/>
          <a:ln w="15240">
            <a:solidFill>
              <a:srgbClr val="D5E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2441448"/>
            <a:ext cx="566928" cy="566928"/>
          </a:xfrm>
          <a:prstGeom prst="ellipse">
            <a:avLst/>
          </a:prstGeom>
          <a:solidFill>
            <a:srgbClr val="1E5BBF"/>
          </a:solidFill>
          <a:ln w="12700">
            <a:solidFill>
              <a:srgbClr val="1E5B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25877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82112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82112"/>
            <a:ext cx="64008" cy="1600200"/>
          </a:xfrm>
          <a:prstGeom prst="rect">
            <a:avLst/>
          </a:prstGeom>
          <a:solidFill>
            <a:srgbClr val="1E5BBF"/>
          </a:solidFill>
          <a:ln w="12700">
            <a:solidFill>
              <a:srgbClr val="1E5BB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55264"/>
            <a:ext cx="2971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理解业务
</a:t>
            </a:r>
            <a:pPr indent="0" marL="0">
              <a:buNone/>
            </a:pPr>
            <a:r>
              <a:rPr lang="en-US" sz="12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采购备案是材料录入、信息提取、目录匹配、初稿生成与人工复核的连续流程。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797296" y="2441448"/>
            <a:ext cx="566928" cy="566928"/>
          </a:xfrm>
          <a:prstGeom prst="ellipse">
            <a:avLst/>
          </a:prstGeom>
          <a:solidFill>
            <a:srgbClr val="168999"/>
          </a:solidFill>
          <a:ln w="12700">
            <a:solidFill>
              <a:srgbClr val="168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5877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3182112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3182112"/>
            <a:ext cx="64008" cy="1600200"/>
          </a:xfrm>
          <a:prstGeom prst="rect">
            <a:avLst/>
          </a:prstGeom>
          <a:solidFill>
            <a:srgbClr val="168999"/>
          </a:solidFill>
          <a:ln w="12700">
            <a:solidFill>
              <a:srgbClr val="16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255264"/>
            <a:ext cx="2971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识别痛点
</a:t>
            </a:r>
            <a:pPr indent="0" marL="0">
              <a:buNone/>
            </a:pPr>
            <a:r>
              <a:rPr lang="en-US" sz="12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问题集中在材料分散、重复录入、扫描件识别、目录归档和模板填报等关键环节。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9564624" y="2441448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4624" y="25877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66176" y="3182112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3182112"/>
            <a:ext cx="64008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3255264"/>
            <a:ext cx="2971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 MVP
</a:t>
            </a:r>
            <a:pPr indent="0" marL="0">
              <a:buNone/>
            </a:pPr>
            <a:r>
              <a:rPr lang="en-US" sz="12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优先跑通“材料进入系统后，能被识别、提取、匹配、归档并生成可复核初稿”的闭环。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10515600" cy="530352"/>
          </a:xfrm>
          <a:prstGeom prst="roundRect">
            <a:avLst>
              <a:gd name="adj" fmla="val 27586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44982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核心逻辑：先理解业务流程，再识别高频痛点，最后收敛出最小可验证闭环。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业务背景：备案材料处理为什么复杂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备案材料来自多个环节，格式多样，人工汇总、录入和归档成本高。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材料来源复杂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728216"/>
            <a:ext cx="2103120" cy="0"/>
          </a:xfrm>
          <a:prstGeom prst="line">
            <a:avLst/>
          </a:prstGeom>
          <a:noFill/>
          <a:ln w="19050">
            <a:solidFill>
              <a:srgbClr val="1E5BB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74520"/>
            <a:ext cx="47091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84248"/>
            <a:ext cx="502920" cy="292608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90472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采购文件 / 公告 / 委托协议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77240" y="2551176"/>
            <a:ext cx="47091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60904"/>
            <a:ext cx="502920" cy="292608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90472" y="2642616"/>
            <a:ext cx="3886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报名表 / 供应商资料 / 评审资料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3227832"/>
            <a:ext cx="47091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37560"/>
            <a:ext cx="502920" cy="292608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90472" y="3319272"/>
            <a:ext cx="3886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中标通知 / 签字回扫件 / 备案目录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3904488"/>
            <a:ext cx="47091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14216"/>
            <a:ext cx="502920" cy="292608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90472" y="3995928"/>
            <a:ext cx="3886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 / 扫描件 / Word / PDF / Excel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9893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四类人工处理难题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1728216"/>
            <a:ext cx="2103120" cy="0"/>
          </a:xfrm>
          <a:prstGeom prst="line">
            <a:avLst/>
          </a:prstGeom>
          <a:noFill/>
          <a:ln w="19050">
            <a:solidFill>
              <a:srgbClr val="168999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874520"/>
            <a:ext cx="512064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984248"/>
            <a:ext cx="502920" cy="292608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793992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材料散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不同阶段、人员、格式，汇总成本高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080760" y="2551176"/>
            <a:ext cx="512064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660904"/>
            <a:ext cx="502920" cy="292608"/>
          </a:xfrm>
          <a:prstGeom prst="rect">
            <a:avLst/>
          </a:prstGeom>
          <a:solidFill>
            <a:srgbClr val="168999"/>
          </a:solidFill>
          <a:ln>
            <a:solidFill>
              <a:srgbClr val="1689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793992" y="2642616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信息重复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项目名称、编号、金额等字段反复查找录入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080760" y="3227832"/>
            <a:ext cx="512064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337560"/>
            <a:ext cx="502920" cy="29260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793992" y="3319272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归档依赖经验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材料对应哪个备案目录项，靠经办人员判断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080760" y="3904488"/>
            <a:ext cx="512064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014216"/>
            <a:ext cx="502920" cy="292608"/>
          </a:xfrm>
          <a:prstGeom prst="rect">
            <a:avLst/>
          </a:prstGeom>
          <a:solidFill>
            <a:srgbClr val="D98A2F"/>
          </a:solidFill>
          <a:ln>
            <a:solidFill>
              <a:srgbClr val="D98A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793992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复核压力大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缺材料、错目录、漏签字导致频繁返工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68680" y="5257800"/>
            <a:ext cx="10378440" cy="566928"/>
          </a:xfrm>
          <a:prstGeom prst="roundRect">
            <a:avLst>
              <a:gd name="adj" fmla="val 25806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43153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核心问题：材料不是简单存储，而是需要被识别、归类、匹配和复核。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业务流程：前期差异大，后期备案共性强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不同采购方式的差异主要在前期；后期备案整理与归档更适合作为首版切入点。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签订协议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093976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编制采购文件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675888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22192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发布公告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257800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04104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开标评标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839712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86016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确认中标人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421624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67928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制作备案材料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003536" y="17282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149840" y="1508760"/>
            <a:ext cx="14356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归档管理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59368" y="2267712"/>
            <a:ext cx="2688336" cy="0"/>
          </a:xfrm>
          <a:prstGeom prst="line">
            <a:avLst/>
          </a:prstGeom>
          <a:noFill/>
          <a:ln w="22860">
            <a:solidFill>
              <a:srgbClr val="1E5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952" y="23865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 MVP 切入点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31520" y="2971800"/>
            <a:ext cx="327355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71800"/>
            <a:ext cx="64008" cy="1143000"/>
          </a:xfrm>
          <a:prstGeom prst="rect">
            <a:avLst/>
          </a:prstGeom>
          <a:solidFill>
            <a:srgbClr val="1E5BBF"/>
          </a:solidFill>
          <a:ln w="12700">
            <a:solidFill>
              <a:srgbClr val="1E5BB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044952"/>
            <a:ext cx="3044952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电子标
</a:t>
            </a:r>
            <a:pPr indent="0" marL="0">
              <a:buNone/>
            </a:pPr>
            <a:r>
              <a:rPr lang="en-US" sz="11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流程在线化程度高，数据结构化强，人工参与少。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2971800"/>
            <a:ext cx="327355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2971800"/>
            <a:ext cx="64008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044952"/>
            <a:ext cx="3044952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线下标
</a:t>
            </a:r>
            <a:pPr indent="0" marL="0">
              <a:buNone/>
            </a:pPr>
            <a:r>
              <a:rPr lang="en-US" sz="11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部分环节在线，开评标与材料整理仍需人工参与。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93024" y="2971800"/>
            <a:ext cx="327355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3024" y="2971800"/>
            <a:ext cx="64008" cy="1143000"/>
          </a:xfrm>
          <a:prstGeom prst="rect">
            <a:avLst/>
          </a:prstGeom>
          <a:solidFill>
            <a:srgbClr val="D98A2F"/>
          </a:solidFill>
          <a:ln w="12700">
            <a:solidFill>
              <a:srgbClr val="D98A2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3044952"/>
            <a:ext cx="3044952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非政府采购
</a:t>
            </a:r>
            <a:pPr indent="0" marL="0">
              <a:buNone/>
            </a:pPr>
            <a:r>
              <a:rPr lang="en-US" sz="11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更依赖线下处理，材料整理复杂度更高。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4892040"/>
            <a:ext cx="10405872" cy="676656"/>
          </a:xfrm>
          <a:prstGeom prst="roundRect">
            <a:avLst>
              <a:gd name="adj" fmla="val 21622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029200"/>
            <a:ext cx="10040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我们的判断：前期流程因采购方式不同差异较大，但“制作备案材料—目录匹配—初稿组装—归档管理”是共性较强的后期环节，因此更适合作为首版 MVP 的切入点。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企业当前最关心的五个问题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企业真正需要的是完整流程，而非孤立功能。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92040" y="2212848"/>
            <a:ext cx="2423160" cy="242316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21808" y="27706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41605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64208"/>
            <a:ext cx="502920" cy="493776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44752" y="164592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材料入口不统一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纸质扫描件、PDF、Word、Excel 需要统一上传和管理。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0" y="1554480"/>
            <a:ext cx="41605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664208"/>
            <a:ext cx="502920" cy="493776"/>
          </a:xfrm>
          <a:prstGeom prst="rect">
            <a:avLst/>
          </a:prstGeom>
          <a:solidFill>
            <a:srgbClr val="168999"/>
          </a:solidFill>
          <a:ln>
            <a:solidFill>
              <a:srgbClr val="1689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28432" y="164592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关键信息难提取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项目名称、编号、金额、供应商等不能完全靠人工查找。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41605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13048"/>
            <a:ext cx="502920" cy="493776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379476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表格填报效率低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备案相关表格字段重复度高，人工填写容易出错。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15200" y="3703320"/>
            <a:ext cx="41605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813048"/>
            <a:ext cx="502920" cy="493776"/>
          </a:xfrm>
          <a:prstGeom prst="rect">
            <a:avLst/>
          </a:prstGeom>
          <a:solidFill>
            <a:srgbClr val="D98A2F"/>
          </a:solidFill>
          <a:ln>
            <a:solidFill>
              <a:srgbClr val="D98A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28432" y="379476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目录归档易遗漏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备案清单每项都需对应材料，人工匹配容易放错或漏放。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063240" y="4754880"/>
            <a:ext cx="41605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4864608"/>
            <a:ext cx="502920" cy="493776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776472" y="484632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结果需要可复核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系统输出必须保留来源、状态、异常提示和人工确认入口。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关键判断：需求分级 ≠ 制作顺序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高优先级代表业务价值高，但首版还要看依赖条件、验证难度和闭环完整性。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C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15544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需求分级 ≠ 制作顺序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3977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31720"/>
            <a:ext cx="64008" cy="2057400"/>
          </a:xfrm>
          <a:prstGeom prst="rect">
            <a:avLst/>
          </a:prstGeom>
          <a:solidFill>
            <a:srgbClr val="1E5BBF"/>
          </a:solidFill>
          <a:ln w="12700">
            <a:solidFill>
              <a:srgbClr val="1E5BB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04872"/>
            <a:ext cx="37490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高优先级需求示例
</a:t>
            </a:r>
            <a:pPr indent="0" marL="0">
              <a:buNone/>
            </a:pPr>
            <a:r>
              <a:rPr lang="en-US" sz="120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 OCR录入与结构化识别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 关键词抓取与关键信息提取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开评标表格模板化生成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R7 关键要素缺失与明显错误提示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627632"/>
            <a:ext cx="25603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737360"/>
            <a:ext cx="502920" cy="557784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1719072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能否形成闭环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单独做 OCR 或表格都不能完整验证价值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732520" y="1627632"/>
            <a:ext cx="25603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737360"/>
            <a:ext cx="502920" cy="557784"/>
          </a:xfrm>
          <a:prstGeom prst="rect">
            <a:avLst/>
          </a:prstGeom>
          <a:solidFill>
            <a:srgbClr val="168999"/>
          </a:solidFill>
          <a:ln>
            <a:solidFill>
              <a:srgbClr val="1689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445752" y="1719072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输入输出是否清楚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首版必须有明确输入材料和输出成果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806440" y="2743200"/>
            <a:ext cx="25603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852928"/>
            <a:ext cx="502920" cy="557784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19672" y="2834640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能否快速验证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需要用一组材料完成端到端演示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732520" y="2743200"/>
            <a:ext cx="25603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852928"/>
            <a:ext cx="502920" cy="557784"/>
          </a:xfrm>
          <a:prstGeom prst="rect">
            <a:avLst/>
          </a:prstGeom>
          <a:solidFill>
            <a:srgbClr val="D98A2F"/>
          </a:solidFill>
          <a:ln>
            <a:solidFill>
              <a:srgbClr val="D98A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445752" y="2834640"/>
            <a:ext cx="17373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依赖是否可控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复杂规则、企业数据或模板会提升风险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005840" y="4892040"/>
            <a:ext cx="10058400" cy="658368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0749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不是“选最少功能”，而是用最小范围跑通一个真实业务结果。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最终选择：聚焦第二阶段备案材料闭环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这里的第二阶段，指材料进入系统后的备案整理阶段。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0574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E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00784"/>
            <a:ext cx="438912" cy="438912"/>
          </a:xfrm>
          <a:prstGeom prst="ellipse">
            <a:avLst/>
          </a:prstGeom>
          <a:solidFill>
            <a:srgbClr val="1E5BBF"/>
          </a:solidFill>
          <a:ln w="12700">
            <a:solidFill>
              <a:srgbClr val="1E5B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92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扫描录入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353312" y="2039112"/>
            <a:ext cx="1216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纸质件、扫描件、PDF、Word 等统一进入系统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715768" y="20299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16936" y="1536192"/>
            <a:ext cx="20574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E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1700784"/>
            <a:ext cx="438912" cy="438912"/>
          </a:xfrm>
          <a:prstGeom prst="ellipse">
            <a:avLst/>
          </a:prstGeom>
          <a:solidFill>
            <a:srgbClr val="168999"/>
          </a:solidFill>
          <a:ln w="12700">
            <a:solidFill>
              <a:srgbClr val="168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792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0168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归档建议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3630168" y="2039112"/>
            <a:ext cx="1216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根据材料类型、关键词和目录模板生成建议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4992624" y="20299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3792" y="1536192"/>
            <a:ext cx="20574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E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8384" y="1700784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792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07024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目录匹配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5907024" y="2039112"/>
            <a:ext cx="1216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识别材料内容与来源，匹配备案目录项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269480" y="20299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70648" y="1536192"/>
            <a:ext cx="20574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E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700784"/>
            <a:ext cx="438912" cy="438912"/>
          </a:xfrm>
          <a:prstGeom prst="ellipse">
            <a:avLst/>
          </a:prstGeom>
          <a:solidFill>
            <a:srgbClr val="D98A2F"/>
          </a:solidFill>
          <a:ln w="12700">
            <a:solidFill>
              <a:srgbClr val="D98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792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8183880" y="2039112"/>
            <a:ext cx="1216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按目录结构生成可复核的备案材料初稿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9546336" y="20299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47504" y="1536192"/>
            <a:ext cx="20574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E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12096" y="1700784"/>
            <a:ext cx="438912" cy="438912"/>
          </a:xfrm>
          <a:prstGeom prst="ellipse">
            <a:avLst/>
          </a:prstGeom>
          <a:solidFill>
            <a:srgbClr val="1E5BBF"/>
          </a:solidFill>
          <a:ln w="12700">
            <a:solidFill>
              <a:srgbClr val="1E5B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2096" y="1792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60736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10460736" y="2039112"/>
            <a:ext cx="1216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人工确认字段、目录匹配和最终输出结果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77240" y="3337560"/>
            <a:ext cx="51663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3447288"/>
            <a:ext cx="502920" cy="438912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1490472" y="3429000"/>
            <a:ext cx="4343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直接对应企业痛点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材料整理、信息提取、目录归档和备案初稿效率是企业最关心的问题。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63640" y="3337560"/>
            <a:ext cx="51663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447288"/>
            <a:ext cx="502920" cy="438912"/>
          </a:xfrm>
          <a:prstGeom prst="rect">
            <a:avLst/>
          </a:prstGeom>
          <a:solidFill>
            <a:srgbClr val="168999"/>
          </a:solidFill>
          <a:ln>
            <a:solidFill>
              <a:srgbClr val="1689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976872" y="3429000"/>
            <a:ext cx="4343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输入输出明确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输入项目材料，输出信息抓取表、目录匹配结果和备案初稿。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777240" y="4270248"/>
            <a:ext cx="51663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379976"/>
            <a:ext cx="502920" cy="43891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490472" y="4361688"/>
            <a:ext cx="4343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形成真实业务结果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输出可复核、可修改、可继续流转的备案成果。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6263640" y="4270248"/>
            <a:ext cx="51663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379976"/>
            <a:ext cx="502920" cy="438912"/>
          </a:xfrm>
          <a:prstGeom prst="rect">
            <a:avLst/>
          </a:prstGeom>
          <a:solidFill>
            <a:srgbClr val="D98A2F"/>
          </a:solidFill>
          <a:ln>
            <a:solidFill>
              <a:srgbClr val="D98A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976872" y="4361688"/>
            <a:ext cx="43434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为后续扩展打基础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首版沉淀材料、字段、目录与复核记录，支撑后续扩展。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 MVP 范围：四个需求组成闭环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R1、R3、R6、R8不是零散功能，而是分别支撑入口、提取、归档关联与最终输出。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627632"/>
            <a:ext cx="10515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502920" cy="493776"/>
          </a:xfrm>
          <a:prstGeom prst="rect">
            <a:avLst/>
          </a:prstGeom>
          <a:solidFill>
            <a:srgbClr val="1E5BBF"/>
          </a:solidFill>
          <a:ln>
            <a:solidFill>
              <a:srgbClr val="1E5B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36192" y="1719072"/>
            <a:ext cx="9692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材料上传识别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统一材料入口，完成 OCR 识别与基础结构化录入。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806440" y="23408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87752"/>
            <a:ext cx="10515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502920" cy="493776"/>
          </a:xfrm>
          <a:prstGeom prst="rect">
            <a:avLst/>
          </a:prstGeom>
          <a:solidFill>
            <a:srgbClr val="168999"/>
          </a:solidFill>
          <a:ln>
            <a:solidFill>
              <a:srgbClr val="1689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36192" y="2679192"/>
            <a:ext cx="9692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关键信息提取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提取项目名称、编号、金额、时间、供应商等核心字段。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806440" y="3300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547872"/>
            <a:ext cx="10515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57600"/>
            <a:ext cx="502920" cy="493776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R6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36192" y="3639312"/>
            <a:ext cx="9692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回扫件目录关联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根据材料类型、关键词和文件内容，将签字回扫件建议匹配到备案目录项。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06440" y="4261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507992"/>
            <a:ext cx="105156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17720"/>
            <a:ext cx="502920" cy="493776"/>
          </a:xfrm>
          <a:prstGeom prst="rect">
            <a:avLst/>
          </a:prstGeom>
          <a:solidFill>
            <a:srgbClr val="D98A2F"/>
          </a:solidFill>
          <a:ln>
            <a:solidFill>
              <a:srgbClr val="D98A2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36192" y="4599432"/>
            <a:ext cx="9692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备案初稿组装
</a:t>
            </a:r>
            <a:pPr indent="0" marL="0">
              <a:buNone/>
            </a:pPr>
            <a:r>
              <a:rPr lang="en-US" sz="107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按备案目录生成可复核的备案文件初稿。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005840" y="5532120"/>
            <a:ext cx="10058400" cy="502920"/>
          </a:xfrm>
          <a:prstGeom prst="roundRect">
            <a:avLst>
              <a:gd name="adj" fmla="val 29091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669280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闭环关系：R1解决入口 → R3解决提取 → R6解决归档关联 → R8解决最终输出。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首版交付形态：可处理、可追溯、可复核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系统定位是智能辅助整理与生成，不替代人工决策。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444752"/>
            <a:ext cx="1931213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材料上传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845613" y="168249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91917" y="1444752"/>
            <a:ext cx="1931213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基础信息抓取表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923130" y="168249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69434" y="1444752"/>
            <a:ext cx="1931213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目录匹配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000646" y="168249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46950" y="1444752"/>
            <a:ext cx="1931213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备案初稿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078163" y="168249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24467" y="1444752"/>
            <a:ext cx="1931213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0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77240" y="260604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FCFD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606040"/>
            <a:ext cx="64008" cy="1874520"/>
          </a:xfrm>
          <a:prstGeom prst="rect">
            <a:avLst/>
          </a:prstGeom>
          <a:solidFill>
            <a:srgbClr val="1E5BBF"/>
          </a:solidFill>
          <a:ln w="12700">
            <a:solidFill>
              <a:srgbClr val="1E5BB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79192"/>
            <a:ext cx="48920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系统负责
</a:t>
            </a:r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材料解析与 OCR 识别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字段提取与来源标注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目录匹配建议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备案文件初稿组装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60604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FCFD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606040"/>
            <a:ext cx="64008" cy="1874520"/>
          </a:xfrm>
          <a:prstGeom prst="rect">
            <a:avLst/>
          </a:prstGeom>
          <a:solidFill>
            <a:srgbClr val="168999"/>
          </a:solidFill>
          <a:ln w="12700">
            <a:solidFill>
              <a:srgbClr val="1689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679192"/>
            <a:ext cx="48920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人工负责
</a:t>
            </a:r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确认关键字段是否正确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调整目录匹配结果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复核备案初稿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对最终提交结果负责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10287000" cy="502920"/>
          </a:xfrm>
          <a:prstGeom prst="roundRect">
            <a:avLst>
              <a:gd name="adj" fmla="val 29091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03520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核心原则：AI 负责提高效率，人负责最终判断；系统输出必须可追溯、可修改、可复核。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199632"/>
            <a:ext cx="11201400" cy="0"/>
          </a:xfrm>
          <a:prstGeom prst="line">
            <a:avLst/>
          </a:prstGeom>
          <a:noFill/>
          <a:ln w="8890">
            <a:solidFill>
              <a:srgbClr val="D5E0F2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后续规划与总结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566928" cy="0"/>
          </a:xfrm>
          <a:prstGeom prst="line">
            <a:avLst/>
          </a:prstGeom>
          <a:noFill/>
          <a:ln w="38100">
            <a:solidFill>
              <a:srgbClr val="1E5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最终选择不是功能删减，而是先交付可验证、可复核、可迭代的业务闭环。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64008" cy="2148840"/>
          </a:xfrm>
          <a:prstGeom prst="rect">
            <a:avLst/>
          </a:prstGeom>
          <a:solidFill>
            <a:srgbClr val="D98A2F"/>
          </a:solidFill>
          <a:ln w="12700">
            <a:solidFill>
              <a:srgbClr val="D98A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5029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D98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首版之外：不是不重要，而是后续迭代
</a:t>
            </a:r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多包件材料归集：规则复杂，待识别稳定后扩展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 报名缴费核验：依赖报名数据与缴费规则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表格模板化生成：模板严格，待字段稳定后推进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R7 要素缺失提示：需明确提醒项、阻断项和人工判断边界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64008" cy="2148840"/>
          </a:xfrm>
          <a:prstGeom prst="rect">
            <a:avLst/>
          </a:prstGeom>
          <a:solidFill>
            <a:srgbClr val="1E5BBF"/>
          </a:solidFill>
          <a:ln w="12700">
            <a:solidFill>
              <a:srgbClr val="1E5BB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81912"/>
            <a:ext cx="5029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最终总结
</a:t>
            </a:r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公司需求：减少材料整理、信息提取、目录归档和备案生成中的人工成本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我们的思考：优先选择高频、明确、可验证、能形成闭环的业务环节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最终做法：聚焦“上传—识别—提取—匹配—初稿—复核”的首版 MVP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143000" y="4251960"/>
            <a:ext cx="9921240" cy="594360"/>
          </a:xfrm>
          <a:prstGeom prst="roundRect">
            <a:avLst>
              <a:gd name="adj" fmla="val 24615"/>
            </a:avLst>
          </a:prstGeom>
          <a:solidFill>
            <a:srgbClr val="EAF2FF"/>
          </a:solidFill>
          <a:ln w="1016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4425696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后续方向：首版闭环稳定后，逐步扩展表格生成、合规校验、多包件识别等能力。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513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 |  Q&amp;A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364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can found 小组汇报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3000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404 can found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备案文件智能生成 MVP 汇报</dc:title>
  <dc:subject>备案文件智能生成 MVP 汇报</dc:subject>
  <dc:creator>404 can found</dc:creator>
  <cp:lastModifiedBy>404 can found</cp:lastModifiedBy>
  <cp:revision>1</cp:revision>
  <dcterms:created xsi:type="dcterms:W3CDTF">2026-05-19T04:36:22Z</dcterms:created>
  <dcterms:modified xsi:type="dcterms:W3CDTF">2026-05-19T04:36:22Z</dcterms:modified>
</cp:coreProperties>
</file>